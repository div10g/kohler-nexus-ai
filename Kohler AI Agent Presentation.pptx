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3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007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600075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9600" y="3868935"/>
            <a:ext cx="3530649" cy="1381125"/>
          </a:xfrm>
          <a:prstGeom prst="roundRect">
            <a:avLst>
              <a:gd name="adj" fmla="val 827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30749" y="3868935"/>
            <a:ext cx="3530649" cy="1381125"/>
          </a:xfrm>
          <a:prstGeom prst="roundRect">
            <a:avLst>
              <a:gd name="adj" fmla="val 827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51899" y="3868935"/>
            <a:ext cx="3530649" cy="1381125"/>
          </a:xfrm>
          <a:prstGeom prst="roundRect">
            <a:avLst>
              <a:gd name="adj" fmla="val 827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3868935"/>
            <a:ext cx="3530649" cy="285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30749" y="3868935"/>
            <a:ext cx="3530649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51899" y="3868935"/>
            <a:ext cx="3530649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66737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1468446"/>
            <a:ext cx="223535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38BDF8"/>
                </a:solidFill>
                <a:latin typeface="+mj-lt"/>
              </a:rPr>
              <a:t>PROJECT OVERVIEW &amp;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998215"/>
            <a:ext cx="8601075" cy="525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lang="en-IN" sz="3600" b="1" i="0" u="none" dirty="0" smtClean="0">
                <a:solidFill>
                  <a:srgbClr val="F8FAFC"/>
                </a:solidFill>
                <a:latin typeface="+mj-lt"/>
              </a:rPr>
              <a:t>Kohler Unified Enterprise AI Agent</a:t>
            </a:r>
            <a:endParaRPr sz="3600" b="1" i="0" u="none" dirty="0">
              <a:solidFill>
                <a:srgbClr val="F8FAFC"/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" y="2926909"/>
            <a:ext cx="75247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94A3B8"/>
                </a:solidFill>
                <a:latin typeface="+mj-lt"/>
              </a:rPr>
              <a:t>Kohler Nexus bridges internal policy repositories with generative AI—delivering role-governed document retrieval and automated multi-format output.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6628" y="6166862"/>
            <a:ext cx="857607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0" i="0" u="none" dirty="0" smtClean="0">
                <a:solidFill>
                  <a:srgbClr val="64748B"/>
                </a:solidFill>
                <a:latin typeface="+mj-lt"/>
              </a:rPr>
              <a:t>-</a:t>
            </a:r>
            <a:r>
              <a:rPr lang="en-IN" sz="1100" b="0" i="0" u="none" dirty="0" smtClean="0">
                <a:solidFill>
                  <a:srgbClr val="64748B"/>
                </a:solidFill>
                <a:latin typeface="+mj-lt"/>
              </a:rPr>
              <a:t>Divya</a:t>
            </a:r>
            <a:r>
              <a:rPr lang="en-IN" sz="1050" b="0" i="0" u="none" dirty="0" smtClean="0">
                <a:solidFill>
                  <a:srgbClr val="64748B"/>
                </a:solidFill>
                <a:latin typeface="+mj-lt"/>
              </a:rPr>
              <a:t> Gaikwad</a:t>
            </a:r>
            <a:endParaRPr sz="1050" b="0" i="0" u="none" dirty="0">
              <a:solidFill>
                <a:srgbClr val="64748B"/>
              </a:solidFill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3450" y="581025"/>
            <a:ext cx="1623842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4A3B8"/>
                </a:solidFill>
                <a:latin typeface="+mj-lt"/>
              </a:rPr>
              <a:t>KOHLER NEXUS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126110"/>
            <a:ext cx="153151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F8FAFC"/>
                </a:solidFill>
                <a:latin typeface="+mj-lt"/>
              </a:rPr>
              <a:t>Enterprise 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4421385"/>
            <a:ext cx="3168699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CBD5E1"/>
                </a:solidFill>
                <a:latin typeface="+mj-lt"/>
              </a:rPr>
              <a:t>Fragmented policy documents, slow manual search, and data privacy risks with public AI tools.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9349" y="4126110"/>
            <a:ext cx="140846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F8FAFC"/>
                </a:solidFill>
                <a:latin typeface="+mj-lt"/>
              </a:rPr>
              <a:t>Grounded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9349" y="4421385"/>
            <a:ext cx="3168699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CBD5E1"/>
                </a:solidFill>
                <a:latin typeface="+mj-lt"/>
              </a:rPr>
              <a:t>Multi-domain RAG architecture indexing HR, Finance, Legal, and Support knowledge bases.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0499" y="4126110"/>
            <a:ext cx="167366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F8FAFC"/>
                </a:solidFill>
                <a:latin typeface="+mj-lt"/>
              </a:rPr>
              <a:t>Guaranteed Outcomes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499" y="4421385"/>
            <a:ext cx="3168699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CBD5E1"/>
                </a:solidFill>
                <a:latin typeface="+mj-lt"/>
              </a:rPr>
              <a:t>Zero hallucinations, active RBAC security, and automated multi-format export capability.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007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60007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9600" y="3250703"/>
            <a:ext cx="6248400" cy="685800"/>
          </a:xfrm>
          <a:prstGeom prst="roundRect">
            <a:avLst>
              <a:gd name="adj" fmla="val 138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9600" y="4088903"/>
            <a:ext cx="6248400" cy="685800"/>
          </a:xfrm>
          <a:prstGeom prst="roundRect">
            <a:avLst>
              <a:gd name="adj" fmla="val 138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9600" y="4927102"/>
            <a:ext cx="6248400" cy="495301"/>
          </a:xfrm>
          <a:prstGeom prst="roundRect">
            <a:avLst>
              <a:gd name="adj" fmla="val 1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3250703"/>
            <a:ext cx="38100" cy="685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4088903"/>
            <a:ext cx="38100" cy="6858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4927103"/>
            <a:ext cx="38100" cy="4953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1595437"/>
            <a:ext cx="4191000" cy="3619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925" y="1604962"/>
            <a:ext cx="4171950" cy="3600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507878"/>
            <a:ext cx="15240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346078"/>
            <a:ext cx="219075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5089028"/>
            <a:ext cx="17145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9600" y="1247442"/>
            <a:ext cx="6660832" cy="974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95"/>
              </a:lnSpc>
            </a:pPr>
            <a:r>
              <a:rPr sz="3300" b="1" i="0" u="none" dirty="0">
                <a:solidFill>
                  <a:srgbClr val="0F172A"/>
                </a:solidFill>
                <a:latin typeface="+mj-lt"/>
              </a:rPr>
              <a:t>Grounded Context &amp; Secure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2504182"/>
            <a:ext cx="634365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+mj-lt"/>
              </a:rPr>
              <a:t>An enterprise RAG framework designed for precise document synthesis and active data protection.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0141" y="3494662"/>
            <a:ext cx="56197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1E293B"/>
                </a:solidFill>
                <a:latin typeface="+mj-lt"/>
              </a:rPr>
              <a:t>Domain Isolation:</a:t>
            </a:r>
            <a:r>
              <a:rPr sz="1200" b="0" i="0" u="none" dirty="0">
                <a:solidFill>
                  <a:srgbClr val="1E293B"/>
                </a:solidFill>
                <a:latin typeface="+mj-lt"/>
              </a:rPr>
              <a:t> Indexing HR, Finance, Legal, &amp; Support data independently.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9675" y="4332862"/>
            <a:ext cx="55530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1E293B"/>
                </a:solidFill>
                <a:latin typeface="+mj-lt"/>
              </a:rPr>
              <a:t>Active Governance:</a:t>
            </a:r>
            <a:r>
              <a:rPr sz="1200" b="0" i="0" u="none" dirty="0">
                <a:solidFill>
                  <a:srgbClr val="1E293B"/>
                </a:solidFill>
                <a:latin typeface="+mj-lt"/>
              </a:rPr>
              <a:t> Real-time RBAC policy enforcement prior to query generation.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2050" y="5079503"/>
            <a:ext cx="46945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1E293B"/>
                </a:solidFill>
                <a:latin typeface="+mj-lt"/>
              </a:rPr>
              <a:t>Zero Data Exposure:</a:t>
            </a:r>
            <a:r>
              <a:rPr sz="1200" b="0" i="0" u="none" dirty="0">
                <a:solidFill>
                  <a:srgbClr val="1E293B"/>
                </a:solidFill>
                <a:latin typeface="+mj-lt"/>
              </a:rPr>
              <a:t> Environment-isolated execution with injection shields.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701422"/>
            <a:ext cx="48387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400" b="1" dirty="0" smtClean="0">
                <a:solidFill>
                  <a:srgbClr val="0284C7"/>
                </a:solidFill>
                <a:latin typeface="+mj-lt"/>
              </a:rPr>
              <a:t>AI</a:t>
            </a:r>
            <a:r>
              <a:rPr lang="en-IN" sz="1400" b="1" i="0" u="none" dirty="0" smtClean="0">
                <a:solidFill>
                  <a:srgbClr val="0284C7"/>
                </a:solidFill>
                <a:latin typeface="+mj-lt"/>
              </a:rPr>
              <a:t> Architectural Overview</a:t>
            </a:r>
            <a:endParaRPr sz="1400" b="1" i="0" u="none" dirty="0">
              <a:solidFill>
                <a:srgbClr val="0284C7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705475"/>
            <a:ext cx="10972800" cy="619125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182225" y="5895975"/>
            <a:ext cx="1209675" cy="238125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600" y="2409825"/>
            <a:ext cx="2628900" cy="2200275"/>
          </a:xfrm>
          <a:prstGeom prst="roundRect">
            <a:avLst>
              <a:gd name="adj" fmla="val 51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390900" y="2409825"/>
            <a:ext cx="2628900" cy="2200275"/>
          </a:xfrm>
          <a:prstGeom prst="roundRect">
            <a:avLst>
              <a:gd name="adj" fmla="val 51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72200" y="2409825"/>
            <a:ext cx="2628900" cy="2200275"/>
          </a:xfrm>
          <a:prstGeom prst="roundRect">
            <a:avLst>
              <a:gd name="adj" fmla="val 51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953500" y="2409825"/>
            <a:ext cx="2628900" cy="2200275"/>
          </a:xfrm>
          <a:prstGeom prst="roundRect">
            <a:avLst>
              <a:gd name="adj" fmla="val 51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0100" y="27146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2409825"/>
            <a:ext cx="26289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581400" y="27146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390900" y="2409825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62700" y="27146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72200" y="2409825"/>
            <a:ext cx="26289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44000" y="27146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53500" y="2409825"/>
            <a:ext cx="26289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5929312"/>
            <a:ext cx="152400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624045"/>
            <a:ext cx="545782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2563EB"/>
                </a:solidFill>
                <a:latin typeface="+mj-lt"/>
              </a:rPr>
              <a:t>Execution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96525" y="5934075"/>
            <a:ext cx="10763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+mj-lt"/>
              </a:rPr>
              <a:t>Active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890745"/>
            <a:ext cx="5398209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+mj-lt"/>
              </a:rPr>
              <a:t>End-to-End System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6800" y="5924550"/>
            <a:ext cx="6019277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+mj-lt"/>
              </a:rPr>
              <a:t>Programmatic Guardrail Layer: Intercepts prompt injection and system override codes automatically.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225" y="2801250"/>
            <a:ext cx="66675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+mj-lt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3248025"/>
            <a:ext cx="114723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+mj-lt"/>
              </a:rPr>
              <a:t>Identity &amp; RBAC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" y="3543300"/>
            <a:ext cx="2343150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+mj-lt"/>
              </a:rPr>
              <a:t>Validates session role credentials and filters accessible document boundaries.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38525" y="2801250"/>
            <a:ext cx="66675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+mj-lt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1400" y="3248025"/>
            <a:ext cx="135562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+mj-lt"/>
              </a:rPr>
              <a:t>Multi-Domain 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1400" y="3543300"/>
            <a:ext cx="2343150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+mj-lt"/>
              </a:rPr>
              <a:t>Extracts vector chunks across policy PDFs for context synthesis.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9825" y="2801250"/>
            <a:ext cx="66675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+mj-lt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2700" y="3248025"/>
            <a:ext cx="122867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+mj-lt"/>
              </a:rPr>
              <a:t>Gemini Synthesis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2700" y="3543300"/>
            <a:ext cx="234315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+mj-lt"/>
              </a:rPr>
              <a:t>Executes grounded prompts with Gemini 3.6 Flash &amp; automated 2.5 fallback.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1125" y="2801250"/>
            <a:ext cx="66675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+mj-lt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48025"/>
            <a:ext cx="151111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+mj-lt"/>
              </a:rPr>
              <a:t>Multi-Format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543300"/>
            <a:ext cx="234315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+mj-lt"/>
              </a:rPr>
              <a:t>Converts output to Plain Text, Draft Email, JSON, XML, or Excel spreadsheets.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54783"/>
            <a:ext cx="5372100" cy="1264741"/>
          </a:xfrm>
          <a:prstGeom prst="roundRect">
            <a:avLst>
              <a:gd name="adj" fmla="val 90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10300" y="2554783"/>
            <a:ext cx="5372100" cy="1264741"/>
          </a:xfrm>
          <a:prstGeom prst="roundRect">
            <a:avLst>
              <a:gd name="adj" fmla="val 90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600" y="4048125"/>
            <a:ext cx="5372100" cy="1264741"/>
          </a:xfrm>
          <a:prstGeom prst="roundRect">
            <a:avLst>
              <a:gd name="adj" fmla="val 90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0300" y="4048125"/>
            <a:ext cx="5372100" cy="1264741"/>
          </a:xfrm>
          <a:prstGeom prst="roundRect">
            <a:avLst>
              <a:gd name="adj" fmla="val 90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21483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821483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4314825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4314825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25" y="2945308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6537" y="2945308"/>
            <a:ext cx="23812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125" y="4438650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4637" y="4438650"/>
            <a:ext cx="16192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678055"/>
            <a:ext cx="48387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284C7"/>
                </a:solidFill>
                <a:latin typeface="+mj-lt"/>
              </a:rPr>
              <a:t>Technical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910318"/>
            <a:ext cx="53721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+mj-lt"/>
              </a:rPr>
              <a:t>Enterprise Technology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" y="2821483"/>
            <a:ext cx="96340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+mj-lt"/>
              </a:rPr>
              <a:t>LLM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" y="3126283"/>
            <a:ext cx="4286250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rgbClr val="475569"/>
                </a:solidFill>
                <a:latin typeface="+mj-lt"/>
              </a:rPr>
              <a:t>Google </a:t>
            </a:r>
            <a:r>
              <a:rPr sz="1200" b="0" i="0" u="none" dirty="0" err="1">
                <a:solidFill>
                  <a:srgbClr val="475569"/>
                </a:solidFill>
                <a:latin typeface="+mj-lt"/>
              </a:rPr>
              <a:t>GenAI</a:t>
            </a:r>
            <a:r>
              <a:rPr sz="1200" b="0" i="0" u="none" dirty="0">
                <a:solidFill>
                  <a:srgbClr val="475569"/>
                </a:solidFill>
                <a:latin typeface="+mj-lt"/>
              </a:rPr>
              <a:t> SDK featuring </a:t>
            </a:r>
            <a:r>
              <a:rPr sz="1200" b="1" i="0" u="none" dirty="0">
                <a:solidFill>
                  <a:srgbClr val="475569"/>
                </a:solidFill>
                <a:latin typeface="+mj-lt"/>
              </a:rPr>
              <a:t>Gemini 3.6 Flash</a:t>
            </a:r>
            <a:r>
              <a:rPr sz="1200" b="0" i="0" u="none" dirty="0">
                <a:solidFill>
                  <a:srgbClr val="475569"/>
                </a:solidFill>
                <a:latin typeface="+mj-lt"/>
              </a:rPr>
              <a:t> with 2.5 Flash fallback mechanisms.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4700" y="2821483"/>
            <a:ext cx="119930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+mj-lt"/>
              </a:rPr>
              <a:t>User 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4700" y="3126283"/>
            <a:ext cx="4286250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475569"/>
                </a:solidFill>
                <a:latin typeface="+mj-lt"/>
              </a:rPr>
              <a:t>Streamlit Runtime</a:t>
            </a:r>
            <a:r>
              <a:rPr sz="1200" b="0" i="0" u="none">
                <a:solidFill>
                  <a:srgbClr val="475569"/>
                </a:solidFill>
                <a:latin typeface="+mj-lt"/>
              </a:rPr>
              <a:t> with dynamic session state management and custom theme CSS.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" y="4314825"/>
            <a:ext cx="226703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+mj-lt"/>
              </a:rPr>
              <a:t>RAG &amp; Document Indexing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" y="4619625"/>
            <a:ext cx="4286250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475569"/>
                </a:solidFill>
                <a:latin typeface="+mj-lt"/>
              </a:rPr>
              <a:t>PyPDF &amp; ReportLab</a:t>
            </a:r>
            <a:r>
              <a:rPr sz="1200" b="0" i="0" u="none">
                <a:solidFill>
                  <a:srgbClr val="475569"/>
                </a:solidFill>
                <a:latin typeface="+mj-lt"/>
              </a:rPr>
              <a:t> pipeline parsing domain policy assets into chunked embeddings.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4700" y="4314825"/>
            <a:ext cx="179414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+mj-lt"/>
              </a:rPr>
              <a:t>Multi-Format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4700" y="4619625"/>
            <a:ext cx="4286250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475569"/>
                </a:solidFill>
                <a:latin typeface="+mj-lt"/>
              </a:rPr>
              <a:t>OpenPyXL &amp; Structural Parsers</a:t>
            </a:r>
            <a:r>
              <a:rPr sz="1200" b="0" i="0" u="none">
                <a:solidFill>
                  <a:srgbClr val="475569"/>
                </a:solidFill>
                <a:latin typeface="+mj-lt"/>
              </a:rPr>
              <a:t> generating structured JSON, XML, &amp; downloadable Excel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52637"/>
            <a:ext cx="6705600" cy="1076325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" y="3357562"/>
            <a:ext cx="6705600" cy="1076325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600" y="4662487"/>
            <a:ext cx="6705600" cy="1076325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73788"/>
            <a:ext cx="58959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59669"/>
                </a:solidFill>
                <a:latin typeface="+mj-lt"/>
              </a:rPr>
              <a:t>Value Proposition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942869"/>
            <a:ext cx="5993244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+mj-lt"/>
              </a:rPr>
              <a:t>Innovation Pitch &amp; Business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362200"/>
            <a:ext cx="1038746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2563EB"/>
                </a:solidFill>
                <a:latin typeface="+mj-lt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67125"/>
            <a:ext cx="445635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059669"/>
                </a:solidFill>
                <a:latin typeface="+mj-lt"/>
              </a:rPr>
              <a:t>5x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972050"/>
            <a:ext cx="852990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D97706"/>
                </a:solidFill>
                <a:latin typeface="+mj-lt"/>
              </a:rPr>
              <a:t>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9800" y="2281237"/>
            <a:ext cx="174143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+mj-lt"/>
              </a:rPr>
              <a:t>Fact-Grounded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09800" y="2538412"/>
            <a:ext cx="497205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+mj-lt"/>
              </a:rPr>
              <a:t>Eliminates LLM hallucinations by restricting answers to indexed policy documents.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725" y="3586162"/>
            <a:ext cx="227357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+mj-lt"/>
              </a:rPr>
              <a:t>Automated Workflow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9725" y="3843337"/>
            <a:ext cx="5572125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+mj-lt"/>
              </a:rPr>
              <a:t>Direct conversion to Draft Emails, JSON, XML, and downloadable Excel spreadsheets.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47875" y="4891087"/>
            <a:ext cx="128317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+mj-lt"/>
              </a:rPr>
              <a:t>Data Leakage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7875" y="5148262"/>
            <a:ext cx="5133975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+mj-lt"/>
              </a:rPr>
              <a:t>Active RBAC and prompt injection protection safeguard proprietary enterprise data.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638" y="2258614"/>
            <a:ext cx="3454019" cy="32742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347</Words>
  <Application>Microsoft Office PowerPoint</Application>
  <PresentationFormat>Widescreen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Divya</cp:lastModifiedBy>
  <cp:revision>3</cp:revision>
  <dcterms:created xsi:type="dcterms:W3CDTF">2013-01-27T09:14:16Z</dcterms:created>
  <dcterms:modified xsi:type="dcterms:W3CDTF">2026-09-19T14:04:52Z</dcterms:modified>
  <cp:category/>
</cp:coreProperties>
</file>